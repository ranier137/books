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29159200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6">
          <p15:clr>
            <a:srgbClr val="A4A3A4"/>
          </p15:clr>
        </p15:guide>
        <p15:guide id="2" pos="9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25" d="100"/>
          <a:sy n="25" d="100"/>
        </p:scale>
        <p:origin x="1122" y="18"/>
      </p:cViewPr>
      <p:guideLst>
        <p:guide orient="horz" pos="13606"/>
        <p:guide pos="9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6940" y="7070108"/>
            <a:ext cx="24785320" cy="15040222"/>
          </a:xfrm>
        </p:spPr>
        <p:txBody>
          <a:bodyPr anchor="b"/>
          <a:lstStyle>
            <a:lvl1pPr algn="ctr">
              <a:defRPr sz="191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44900" y="22690338"/>
            <a:ext cx="21869400" cy="10430151"/>
          </a:xfrm>
        </p:spPr>
        <p:txBody>
          <a:bodyPr/>
          <a:lstStyle>
            <a:lvl1pPr marL="0" indent="0" algn="ctr">
              <a:buNone/>
              <a:defRPr sz="7653"/>
            </a:lvl1pPr>
            <a:lvl2pPr marL="1457965" indent="0" algn="ctr">
              <a:buNone/>
              <a:defRPr sz="6378"/>
            </a:lvl2pPr>
            <a:lvl3pPr marL="2915930" indent="0" algn="ctr">
              <a:buNone/>
              <a:defRPr sz="5740"/>
            </a:lvl3pPr>
            <a:lvl4pPr marL="4373895" indent="0" algn="ctr">
              <a:buNone/>
              <a:defRPr sz="5102"/>
            </a:lvl4pPr>
            <a:lvl5pPr marL="5831860" indent="0" algn="ctr">
              <a:buNone/>
              <a:defRPr sz="5102"/>
            </a:lvl5pPr>
            <a:lvl6pPr marL="7289825" indent="0" algn="ctr">
              <a:buNone/>
              <a:defRPr sz="5102"/>
            </a:lvl6pPr>
            <a:lvl7pPr marL="8747790" indent="0" algn="ctr">
              <a:buNone/>
              <a:defRPr sz="5102"/>
            </a:lvl7pPr>
            <a:lvl8pPr marL="10205756" indent="0" algn="ctr">
              <a:buNone/>
              <a:defRPr sz="5102"/>
            </a:lvl8pPr>
            <a:lvl9pPr marL="11663721" indent="0" algn="ctr">
              <a:buNone/>
              <a:defRPr sz="510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2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589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510" y="10770172"/>
            <a:ext cx="25149810" cy="17970262"/>
          </a:xfrm>
        </p:spPr>
        <p:txBody>
          <a:bodyPr anchor="b"/>
          <a:lstStyle>
            <a:lvl1pPr>
              <a:defRPr sz="191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9510" y="28910440"/>
            <a:ext cx="25149810" cy="9450136"/>
          </a:xfrm>
        </p:spPr>
        <p:txBody>
          <a:bodyPr/>
          <a:lstStyle>
            <a:lvl1pPr marL="0" indent="0">
              <a:buNone/>
              <a:defRPr sz="7653">
                <a:solidFill>
                  <a:schemeClr val="tx1"/>
                </a:solidFill>
              </a:defRPr>
            </a:lvl1pPr>
            <a:lvl2pPr marL="1457965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2pPr>
            <a:lvl3pPr marL="2915930" indent="0">
              <a:buNone/>
              <a:defRPr sz="5740">
                <a:solidFill>
                  <a:schemeClr val="tx1">
                    <a:tint val="75000"/>
                  </a:schemeClr>
                </a:solidFill>
              </a:defRPr>
            </a:lvl3pPr>
            <a:lvl4pPr marL="4373895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4pPr>
            <a:lvl5pPr marL="5831860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5pPr>
            <a:lvl6pPr marL="7289825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6pPr>
            <a:lvl7pPr marL="8747790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7pPr>
            <a:lvl8pPr marL="10205756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8pPr>
            <a:lvl9pPr marL="11663721" indent="0">
              <a:buNone/>
              <a:defRPr sz="51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471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04695" y="11500170"/>
            <a:ext cx="12392660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61845" y="11500170"/>
            <a:ext cx="12392660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77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493" y="2300044"/>
            <a:ext cx="25149810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8496" y="10590160"/>
            <a:ext cx="12335706" cy="5190073"/>
          </a:xfrm>
        </p:spPr>
        <p:txBody>
          <a:bodyPr anchor="b"/>
          <a:lstStyle>
            <a:lvl1pPr marL="0" indent="0">
              <a:buNone/>
              <a:defRPr sz="7653" b="1"/>
            </a:lvl1pPr>
            <a:lvl2pPr marL="1457965" indent="0">
              <a:buNone/>
              <a:defRPr sz="6378" b="1"/>
            </a:lvl2pPr>
            <a:lvl3pPr marL="2915930" indent="0">
              <a:buNone/>
              <a:defRPr sz="5740" b="1"/>
            </a:lvl3pPr>
            <a:lvl4pPr marL="4373895" indent="0">
              <a:buNone/>
              <a:defRPr sz="5102" b="1"/>
            </a:lvl4pPr>
            <a:lvl5pPr marL="5831860" indent="0">
              <a:buNone/>
              <a:defRPr sz="5102" b="1"/>
            </a:lvl5pPr>
            <a:lvl6pPr marL="7289825" indent="0">
              <a:buNone/>
              <a:defRPr sz="5102" b="1"/>
            </a:lvl6pPr>
            <a:lvl7pPr marL="8747790" indent="0">
              <a:buNone/>
              <a:defRPr sz="5102" b="1"/>
            </a:lvl7pPr>
            <a:lvl8pPr marL="10205756" indent="0">
              <a:buNone/>
              <a:defRPr sz="5102" b="1"/>
            </a:lvl8pPr>
            <a:lvl9pPr marL="11663721" indent="0">
              <a:buNone/>
              <a:defRPr sz="510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08496" y="15780233"/>
            <a:ext cx="12335706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761847" y="10590160"/>
            <a:ext cx="12396458" cy="5190073"/>
          </a:xfrm>
        </p:spPr>
        <p:txBody>
          <a:bodyPr anchor="b"/>
          <a:lstStyle>
            <a:lvl1pPr marL="0" indent="0">
              <a:buNone/>
              <a:defRPr sz="7653" b="1"/>
            </a:lvl1pPr>
            <a:lvl2pPr marL="1457965" indent="0">
              <a:buNone/>
              <a:defRPr sz="6378" b="1"/>
            </a:lvl2pPr>
            <a:lvl3pPr marL="2915930" indent="0">
              <a:buNone/>
              <a:defRPr sz="5740" b="1"/>
            </a:lvl3pPr>
            <a:lvl4pPr marL="4373895" indent="0">
              <a:buNone/>
              <a:defRPr sz="5102" b="1"/>
            </a:lvl4pPr>
            <a:lvl5pPr marL="5831860" indent="0">
              <a:buNone/>
              <a:defRPr sz="5102" b="1"/>
            </a:lvl5pPr>
            <a:lvl6pPr marL="7289825" indent="0">
              <a:buNone/>
              <a:defRPr sz="5102" b="1"/>
            </a:lvl6pPr>
            <a:lvl7pPr marL="8747790" indent="0">
              <a:buNone/>
              <a:defRPr sz="5102" b="1"/>
            </a:lvl7pPr>
            <a:lvl8pPr marL="10205756" indent="0">
              <a:buNone/>
              <a:defRPr sz="5102" b="1"/>
            </a:lvl8pPr>
            <a:lvl9pPr marL="11663721" indent="0">
              <a:buNone/>
              <a:defRPr sz="510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761847" y="15780233"/>
            <a:ext cx="12396458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54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462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27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493" y="2880042"/>
            <a:ext cx="9404601" cy="10080149"/>
          </a:xfrm>
        </p:spPr>
        <p:txBody>
          <a:bodyPr anchor="b"/>
          <a:lstStyle>
            <a:lvl1pPr>
              <a:defRPr sz="1020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96458" y="6220102"/>
            <a:ext cx="14761845" cy="30700453"/>
          </a:xfrm>
        </p:spPr>
        <p:txBody>
          <a:bodyPr/>
          <a:lstStyle>
            <a:lvl1pPr>
              <a:defRPr sz="10204"/>
            </a:lvl1pPr>
            <a:lvl2pPr>
              <a:defRPr sz="8929"/>
            </a:lvl2pPr>
            <a:lvl3pPr>
              <a:defRPr sz="7653"/>
            </a:lvl3pPr>
            <a:lvl4pPr>
              <a:defRPr sz="6378"/>
            </a:lvl4pPr>
            <a:lvl5pPr>
              <a:defRPr sz="6378"/>
            </a:lvl5pPr>
            <a:lvl6pPr>
              <a:defRPr sz="6378"/>
            </a:lvl6pPr>
            <a:lvl7pPr>
              <a:defRPr sz="6378"/>
            </a:lvl7pPr>
            <a:lvl8pPr>
              <a:defRPr sz="6378"/>
            </a:lvl8pPr>
            <a:lvl9pPr>
              <a:defRPr sz="637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08493" y="12960191"/>
            <a:ext cx="9404601" cy="24010358"/>
          </a:xfrm>
        </p:spPr>
        <p:txBody>
          <a:bodyPr/>
          <a:lstStyle>
            <a:lvl1pPr marL="0" indent="0">
              <a:buNone/>
              <a:defRPr sz="5102"/>
            </a:lvl1pPr>
            <a:lvl2pPr marL="1457965" indent="0">
              <a:buNone/>
              <a:defRPr sz="4464"/>
            </a:lvl2pPr>
            <a:lvl3pPr marL="2915930" indent="0">
              <a:buNone/>
              <a:defRPr sz="3827"/>
            </a:lvl3pPr>
            <a:lvl4pPr marL="4373895" indent="0">
              <a:buNone/>
              <a:defRPr sz="3189"/>
            </a:lvl4pPr>
            <a:lvl5pPr marL="5831860" indent="0">
              <a:buNone/>
              <a:defRPr sz="3189"/>
            </a:lvl5pPr>
            <a:lvl6pPr marL="7289825" indent="0">
              <a:buNone/>
              <a:defRPr sz="3189"/>
            </a:lvl6pPr>
            <a:lvl7pPr marL="8747790" indent="0">
              <a:buNone/>
              <a:defRPr sz="3189"/>
            </a:lvl7pPr>
            <a:lvl8pPr marL="10205756" indent="0">
              <a:buNone/>
              <a:defRPr sz="3189"/>
            </a:lvl8pPr>
            <a:lvl9pPr marL="11663721" indent="0">
              <a:buNone/>
              <a:defRPr sz="318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925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493" y="2880042"/>
            <a:ext cx="9404601" cy="10080149"/>
          </a:xfrm>
        </p:spPr>
        <p:txBody>
          <a:bodyPr anchor="b"/>
          <a:lstStyle>
            <a:lvl1pPr>
              <a:defRPr sz="1020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96458" y="6220102"/>
            <a:ext cx="14761845" cy="30700453"/>
          </a:xfrm>
        </p:spPr>
        <p:txBody>
          <a:bodyPr anchor="t"/>
          <a:lstStyle>
            <a:lvl1pPr marL="0" indent="0">
              <a:buNone/>
              <a:defRPr sz="10204"/>
            </a:lvl1pPr>
            <a:lvl2pPr marL="1457965" indent="0">
              <a:buNone/>
              <a:defRPr sz="8929"/>
            </a:lvl2pPr>
            <a:lvl3pPr marL="2915930" indent="0">
              <a:buNone/>
              <a:defRPr sz="7653"/>
            </a:lvl3pPr>
            <a:lvl4pPr marL="4373895" indent="0">
              <a:buNone/>
              <a:defRPr sz="6378"/>
            </a:lvl4pPr>
            <a:lvl5pPr marL="5831860" indent="0">
              <a:buNone/>
              <a:defRPr sz="6378"/>
            </a:lvl5pPr>
            <a:lvl6pPr marL="7289825" indent="0">
              <a:buNone/>
              <a:defRPr sz="6378"/>
            </a:lvl6pPr>
            <a:lvl7pPr marL="8747790" indent="0">
              <a:buNone/>
              <a:defRPr sz="6378"/>
            </a:lvl7pPr>
            <a:lvl8pPr marL="10205756" indent="0">
              <a:buNone/>
              <a:defRPr sz="6378"/>
            </a:lvl8pPr>
            <a:lvl9pPr marL="11663721" indent="0">
              <a:buNone/>
              <a:defRPr sz="6378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08493" y="12960191"/>
            <a:ext cx="9404601" cy="24010358"/>
          </a:xfrm>
        </p:spPr>
        <p:txBody>
          <a:bodyPr/>
          <a:lstStyle>
            <a:lvl1pPr marL="0" indent="0">
              <a:buNone/>
              <a:defRPr sz="5102"/>
            </a:lvl1pPr>
            <a:lvl2pPr marL="1457965" indent="0">
              <a:buNone/>
              <a:defRPr sz="4464"/>
            </a:lvl2pPr>
            <a:lvl3pPr marL="2915930" indent="0">
              <a:buNone/>
              <a:defRPr sz="3827"/>
            </a:lvl3pPr>
            <a:lvl4pPr marL="4373895" indent="0">
              <a:buNone/>
              <a:defRPr sz="3189"/>
            </a:lvl4pPr>
            <a:lvl5pPr marL="5831860" indent="0">
              <a:buNone/>
              <a:defRPr sz="3189"/>
            </a:lvl5pPr>
            <a:lvl6pPr marL="7289825" indent="0">
              <a:buNone/>
              <a:defRPr sz="3189"/>
            </a:lvl6pPr>
            <a:lvl7pPr marL="8747790" indent="0">
              <a:buNone/>
              <a:defRPr sz="3189"/>
            </a:lvl7pPr>
            <a:lvl8pPr marL="10205756" indent="0">
              <a:buNone/>
              <a:defRPr sz="3189"/>
            </a:lvl8pPr>
            <a:lvl9pPr marL="11663721" indent="0">
              <a:buNone/>
              <a:defRPr sz="318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69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2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867054" y="2300034"/>
            <a:ext cx="6287453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04696" y="2300034"/>
            <a:ext cx="1849786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208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04695" y="2300044"/>
            <a:ext cx="25149810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4695" y="11500170"/>
            <a:ext cx="25149810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04695" y="40040601"/>
            <a:ext cx="656082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C92A9-7932-4F40-B3AB-09ED915E306A}" type="datetimeFigureOut">
              <a:rPr lang="pt-BR" smtClean="0"/>
              <a:t>18/09/2019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658985" y="40040601"/>
            <a:ext cx="984123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593685" y="40040601"/>
            <a:ext cx="656082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A440B-CFDE-410E-BE09-15A4F829A1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081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915930" rtl="0" eaLnBrk="1" latinLnBrk="0" hangingPunct="1">
        <a:lnSpc>
          <a:spcPct val="90000"/>
        </a:lnSpc>
        <a:spcBef>
          <a:spcPct val="0"/>
        </a:spcBef>
        <a:buNone/>
        <a:defRPr sz="140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8983" indent="-728983" algn="l" defTabSz="2915930" rtl="0" eaLnBrk="1" latinLnBrk="0" hangingPunct="1">
        <a:lnSpc>
          <a:spcPct val="90000"/>
        </a:lnSpc>
        <a:spcBef>
          <a:spcPts val="3189"/>
        </a:spcBef>
        <a:buFont typeface="Arial" panose="020B0604020202020204" pitchFamily="34" charset="0"/>
        <a:buChar char="•"/>
        <a:defRPr sz="8929" kern="1200">
          <a:solidFill>
            <a:schemeClr val="tx1"/>
          </a:solidFill>
          <a:latin typeface="+mn-lt"/>
          <a:ea typeface="+mn-ea"/>
          <a:cs typeface="+mn-cs"/>
        </a:defRPr>
      </a:lvl1pPr>
      <a:lvl2pPr marL="2186948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7653" kern="1200">
          <a:solidFill>
            <a:schemeClr val="tx1"/>
          </a:solidFill>
          <a:latin typeface="+mn-lt"/>
          <a:ea typeface="+mn-ea"/>
          <a:cs typeface="+mn-cs"/>
        </a:defRPr>
      </a:lvl2pPr>
      <a:lvl3pPr marL="3644913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5102878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4pPr>
      <a:lvl5pPr marL="6560843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5pPr>
      <a:lvl6pPr marL="8018808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6pPr>
      <a:lvl7pPr marL="9476773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7pPr>
      <a:lvl8pPr marL="10934738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8pPr>
      <a:lvl9pPr marL="12392703" indent="-728983" algn="l" defTabSz="2915930" rtl="0" eaLnBrk="1" latinLnBrk="0" hangingPunct="1">
        <a:lnSpc>
          <a:spcPct val="90000"/>
        </a:lnSpc>
        <a:spcBef>
          <a:spcPts val="1594"/>
        </a:spcBef>
        <a:buFont typeface="Arial" panose="020B0604020202020204" pitchFamily="34" charset="0"/>
        <a:buChar char="•"/>
        <a:defRPr sz="5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1pPr>
      <a:lvl2pPr marL="1457965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2pPr>
      <a:lvl3pPr marL="2915930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3pPr>
      <a:lvl4pPr marL="4373895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4pPr>
      <a:lvl5pPr marL="5831860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5pPr>
      <a:lvl6pPr marL="7289825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6pPr>
      <a:lvl7pPr marL="8747790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7pPr>
      <a:lvl8pPr marL="10205756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8pPr>
      <a:lvl9pPr marL="11663721" algn="l" defTabSz="2915930" rtl="0" eaLnBrk="1" latinLnBrk="0" hangingPunct="1">
        <a:defRPr sz="5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E75F18F-F2B7-44DC-86FE-71CE6B713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605" y="40027123"/>
            <a:ext cx="29209805" cy="3173516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EDD3811-5286-443A-99A3-3AA77E6D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"/>
            <a:ext cx="29159200" cy="601980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1FFC8A8-7B7D-4944-A00F-7D2AA802DB90}"/>
              </a:ext>
            </a:extLst>
          </p:cNvPr>
          <p:cNvSpPr txBox="1"/>
          <p:nvPr/>
        </p:nvSpPr>
        <p:spPr>
          <a:xfrm>
            <a:off x="2481044" y="9156514"/>
            <a:ext cx="9339942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6000" i="1" dirty="0">
                <a:solidFill>
                  <a:schemeClr val="tx1"/>
                </a:solidFill>
                <a:latin typeface="Georgia" panose="02040502050405020303" pitchFamily="18" charset="0"/>
              </a:rPr>
              <a:t>Introdução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4072B09-0635-4574-8426-2CA6BDC5C883}"/>
              </a:ext>
            </a:extLst>
          </p:cNvPr>
          <p:cNvSpPr txBox="1"/>
          <p:nvPr/>
        </p:nvSpPr>
        <p:spPr>
          <a:xfrm>
            <a:off x="2452477" y="16556754"/>
            <a:ext cx="9339942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6000" i="1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Metodologia</a:t>
            </a:r>
            <a:r>
              <a:rPr lang="pt-BR" sz="7200" i="1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B07589B-D2D9-49E3-A82C-6DEB13434F13}"/>
              </a:ext>
            </a:extLst>
          </p:cNvPr>
          <p:cNvSpPr txBox="1"/>
          <p:nvPr/>
        </p:nvSpPr>
        <p:spPr>
          <a:xfrm>
            <a:off x="2409066" y="33140082"/>
            <a:ext cx="9339942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Análise de Dados</a:t>
            </a:r>
            <a:endParaRPr lang="pt-BR" sz="6000" i="1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989149" y="10333493"/>
            <a:ext cx="1288534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	Entender as variáveis climáticas locais tem impacto direito na vida dos habitantes daquela região, tornando claro o seu comportamento e estudando-as para conseguir prevê-las, auxilia a tomada de decisão nos aspectos da vida humana dependentes do clima e para além disso mostrar efeitos próximos do cotidiano para a população.</a:t>
            </a:r>
          </a:p>
          <a:p>
            <a:pPr algn="just"/>
            <a:r>
              <a:rPr lang="pt-BR" sz="3200" dirty="0"/>
              <a:t>	O principal  comportamento das varáveis é o que ele apresenta temporalmente  por isso o estudo corresponde a análise da serie histórica dos dados mensais meteorológicos correspondentes a precipitação do Distrito Federal da estação de Brasília (nº 83377) do INMET - Instituto Nacional de Meteorologia, obtidos pelo site (http://www.inmet.gov.br). As séries são compostas  dos volumes totais mensais desde janeiro 1968 até dezembro de 2017.</a:t>
            </a:r>
          </a:p>
          <a:p>
            <a:endParaRPr lang="pt-BR" sz="32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782609" y="18385359"/>
            <a:ext cx="1302483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	As series temporais são conjuntos de dados obtidos a intervalos regulares organizados no tempo, existem diversas formas de se analisar uma série sendo um deles a chamada decomposição clássica, um método </a:t>
            </a:r>
            <a:r>
              <a:rPr lang="pt-BR" sz="3200" dirty="0" err="1"/>
              <a:t>univariado</a:t>
            </a:r>
            <a:r>
              <a:rPr lang="pt-BR" sz="3200" dirty="0"/>
              <a:t> que decompõe a serie em componentes não observáveis. Existem dois métodos de modelagem para as series temporais usando o método de decomposição clássico, sendo eles os métodos multiplicativo e o de soma sendo respectivamente equacionados como:</a:t>
            </a:r>
          </a:p>
          <a:p>
            <a:endParaRPr lang="pt-BR" sz="3200" dirty="0"/>
          </a:p>
          <a:p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922100" y="24633092"/>
            <a:ext cx="1295239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	Nesse trabalho utilizamos os dois e testaremos estatisticamente qual deles é o melhor para modelar a serie com as quais estamos trabalhando.</a:t>
            </a:r>
          </a:p>
          <a:p>
            <a:pPr algn="just"/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76" y="26330088"/>
            <a:ext cx="11497522" cy="6296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CaixaDeTexto 28"/>
          <p:cNvSpPr txBox="1"/>
          <p:nvPr/>
        </p:nvSpPr>
        <p:spPr>
          <a:xfrm>
            <a:off x="1639428" y="34632446"/>
            <a:ext cx="120689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	Para fazer a análise separamos as componentes utilizando o Excel e o </a:t>
            </a:r>
            <a:r>
              <a:rPr lang="pt-BR" sz="3200" dirty="0" err="1"/>
              <a:t>QtiPlot</a:t>
            </a:r>
            <a:r>
              <a:rPr lang="pt-BR" sz="3200" dirty="0"/>
              <a:t> como principais ferramentas.   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5648850" y="9067105"/>
            <a:ext cx="120574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/>
              <a:t>Sazonalidade</a:t>
            </a:r>
          </a:p>
          <a:p>
            <a:pPr algn="just"/>
            <a:r>
              <a:rPr lang="pt-BR" sz="4400" b="1" dirty="0"/>
              <a:t>	</a:t>
            </a:r>
            <a:r>
              <a:rPr lang="pt-BR" sz="3200" dirty="0"/>
              <a:t>A sazonalidade depende do modelo que se está utilizando e também é necessário retirar a tendência, aleatoriedade e ciclo, por isso trabalhamos com as médias de cada mês. Fazendo primeiro o passo representado pelas equações e com o seu resultado a média.  </a:t>
            </a:r>
            <a:r>
              <a:rPr lang="pt-BR" sz="4400" b="1" dirty="0"/>
              <a:t> </a:t>
            </a:r>
            <a:endParaRPr lang="pt-BR" sz="3200" b="1" dirty="0"/>
          </a:p>
          <a:p>
            <a:pPr algn="just"/>
            <a:endParaRPr lang="pt-BR" sz="32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283" y="22498467"/>
            <a:ext cx="5656330" cy="134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73234" y="12412644"/>
            <a:ext cx="3663701" cy="905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3691" y="12195087"/>
            <a:ext cx="4063407" cy="124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6136" y="13580535"/>
            <a:ext cx="8560092" cy="4176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CaixaDeTexto 36"/>
          <p:cNvSpPr txBox="1"/>
          <p:nvPr/>
        </p:nvSpPr>
        <p:spPr>
          <a:xfrm>
            <a:off x="15942008" y="17904946"/>
            <a:ext cx="1204849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4400" b="1" dirty="0"/>
              <a:t>Ciclo e a Componente Aleatória</a:t>
            </a:r>
          </a:p>
          <a:p>
            <a:pPr algn="just"/>
            <a:r>
              <a:rPr lang="pt-BR" sz="3200" dirty="0"/>
              <a:t>	O Ciclo apresenta o comportamento oscilatório de longo prazo e ele tem dois comportamentos principais, acima ou abaixo da média. Então retiramos as outras componentes já  definidas e fazemos uma média do que está acima e do que está abaixo .</a:t>
            </a:r>
          </a:p>
          <a:p>
            <a:endParaRPr lang="pt-BR" sz="3200" dirty="0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076" y="21127453"/>
            <a:ext cx="4884508" cy="64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0904" y="22142277"/>
            <a:ext cx="6408363" cy="491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0603" y="21873283"/>
            <a:ext cx="5702205" cy="4958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/>
              <p:cNvSpPr txBox="1"/>
              <p:nvPr/>
            </p:nvSpPr>
            <p:spPr>
              <a:xfrm>
                <a:off x="1540403" y="36133242"/>
                <a:ext cx="12267038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4400" b="1" dirty="0"/>
                  <a:t> Tendência</a:t>
                </a:r>
              </a:p>
              <a:p>
                <a:pPr algn="just"/>
                <a:r>
                  <a:rPr lang="pt-BR" sz="3200" b="1" dirty="0"/>
                  <a:t>	</a:t>
                </a:r>
                <a:r>
                  <a:rPr lang="pt-BR" sz="3200" dirty="0"/>
                  <a:t>Fazendo o ajuste linear para os dados é possível obter a tendência da serie, mais especificamente se seu comportamento é crescente ou decrescente. Para os dados de precipitação obtemos um comportamento decrescente, mesmo que o coeficiente angular tenha sido pequeno da ordem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3200" i="1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pt-BR" sz="32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pt-BR" sz="3200" b="1">
                        <a:latin typeface="Cambria Math"/>
                      </a:rPr>
                      <m:t>.</m:t>
                    </m:r>
                  </m:oMath>
                </a14:m>
                <a:endParaRPr lang="pt-BR" sz="3200" b="1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9" name="CaixaDeTexto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403" y="36133242"/>
                <a:ext cx="12267038" cy="3508653"/>
              </a:xfrm>
              <a:prstGeom prst="rect">
                <a:avLst/>
              </a:prstGeom>
              <a:blipFill rotWithShape="1">
                <a:blip r:embed="rId12"/>
                <a:stretch>
                  <a:fillRect l="-1292" t="-3472" r="-12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058" y="27055802"/>
            <a:ext cx="5979266" cy="1451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CaixaDeTexto 39"/>
          <p:cNvSpPr txBox="1"/>
          <p:nvPr/>
        </p:nvSpPr>
        <p:spPr>
          <a:xfrm>
            <a:off x="16012545" y="28742851"/>
            <a:ext cx="119074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Utilizando a FFT podemos estabelecer as frequências dominantes e por consequência os períodos da serie (f1= 0,0029, f2= 0,0086 e f3= 0,0057 sendo equivalentes aos períodos P1 = 28,73 anos P2 = 9,69 anos e P3 = 14,62 Anos) que podem estar ligados a fenômenos climáticos de larga escala.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B07589B-D2D9-49E3-A82C-6DEB13434F13}"/>
              </a:ext>
            </a:extLst>
          </p:cNvPr>
          <p:cNvSpPr txBox="1"/>
          <p:nvPr/>
        </p:nvSpPr>
        <p:spPr>
          <a:xfrm>
            <a:off x="17277369" y="31544407"/>
            <a:ext cx="9339942" cy="101566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Conclusões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15910561" y="33627808"/>
            <a:ext cx="123862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200" dirty="0"/>
              <a:t>	Ao final da decomposição fizemos a recomposição e a comparação com a serie de dados original, fazendo o erro estatístico absoluto médio comparando ambos os modelos obtemos que o aditivo se aproxima bem mais do que o multiplicativo, porém as previsões feitas com ele distam dos valores medidos. </a:t>
            </a:r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1308" y="20806662"/>
            <a:ext cx="3818738" cy="1290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CaixaDeTexto 41"/>
          <p:cNvSpPr txBox="1"/>
          <p:nvPr/>
        </p:nvSpPr>
        <p:spPr>
          <a:xfrm>
            <a:off x="5120109" y="4652179"/>
            <a:ext cx="19975951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/>
              <a:t>Decomposição de Series Temporais para a</a:t>
            </a:r>
          </a:p>
          <a:p>
            <a:pPr algn="ctr"/>
            <a:r>
              <a:rPr lang="pt-BR" sz="7200" b="1" dirty="0"/>
              <a:t>Precipitação do DF</a:t>
            </a:r>
          </a:p>
          <a:p>
            <a:pPr algn="ctr"/>
            <a:r>
              <a:rPr lang="pt-BR" sz="6000" b="1" dirty="0"/>
              <a:t>Aluno: </a:t>
            </a:r>
            <a:r>
              <a:rPr lang="pt-BR" sz="6000" b="1" dirty="0" err="1"/>
              <a:t>Tábata</a:t>
            </a:r>
            <a:r>
              <a:rPr lang="pt-BR" sz="6000" b="1" dirty="0"/>
              <a:t> Luiza Alves 			Orientadora: </a:t>
            </a:r>
            <a:r>
              <a:rPr lang="pt-BR" sz="6000" b="1" dirty="0" err="1"/>
              <a:t>Erondina</a:t>
            </a:r>
            <a:r>
              <a:rPr lang="pt-BR" sz="6000" b="1" dirty="0"/>
              <a:t> Azevedo </a:t>
            </a:r>
            <a:r>
              <a:rPr lang="pt-BR" sz="4800" b="1" dirty="0"/>
              <a:t>Universidades de Brasília </a:t>
            </a:r>
          </a:p>
          <a:p>
            <a:r>
              <a:rPr lang="pt-BR" sz="3200" b="1" dirty="0"/>
              <a:t>					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715E6AE-F431-4D49-A815-5E03FE66A601}"/>
              </a:ext>
            </a:extLst>
          </p:cNvPr>
          <p:cNvSpPr txBox="1"/>
          <p:nvPr/>
        </p:nvSpPr>
        <p:spPr>
          <a:xfrm>
            <a:off x="24730576" y="39641895"/>
            <a:ext cx="4428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Email</a:t>
            </a:r>
            <a:r>
              <a:rPr lang="pt-BR" sz="2400" b="1" dirty="0"/>
              <a:t>: tabataluizasa@gmail.com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23391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</TotalTime>
  <Words>91</Words>
  <Application>Microsoft Office PowerPoint</Application>
  <PresentationFormat>Personalizar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Georgia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Ranier Menote</dc:creator>
  <cp:lastModifiedBy>Ranier Menote</cp:lastModifiedBy>
  <cp:revision>37</cp:revision>
  <dcterms:created xsi:type="dcterms:W3CDTF">2019-09-11T02:18:08Z</dcterms:created>
  <dcterms:modified xsi:type="dcterms:W3CDTF">2019-09-18T23:59:13Z</dcterms:modified>
</cp:coreProperties>
</file>